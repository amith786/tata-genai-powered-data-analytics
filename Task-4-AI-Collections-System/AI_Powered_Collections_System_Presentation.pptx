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3" r:id="rId6"/>
    <p:sldId id="264" r:id="rId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9"/>
      <p:bold r:id="rId10"/>
      <p:italic r:id="rId11"/>
      <p:bold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Slab" pitchFamily="2" charset="0"/>
      <p:regular r:id="rId17"/>
      <p:bold r:id="rId18"/>
    </p:embeddedFont>
    <p:embeddedFont>
      <p:font typeface="Verdana" panose="020B060403050404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C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20" autoAdjust="0"/>
  </p:normalViewPr>
  <p:slideViewPr>
    <p:cSldViewPr snapToGrid="0">
      <p:cViewPr>
        <p:scale>
          <a:sx n="75" d="100"/>
          <a:sy n="75" d="100"/>
        </p:scale>
        <p:origin x="-245" y="5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825BD-E1C9-8EC4-731B-B8E4337F1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normAutofit fontScale="9000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8BC34A"/>
                </a:solidFill>
                <a:latin typeface="Verdana"/>
              </a:rPr>
              <a:t>SYSTEM WORKFLOW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chemeClr val="tx1"/>
                </a:solidFill>
                <a:latin typeface="Georgia"/>
              </a:rPr>
              <a:t>Data-driven risk signals trigger personalized, proactive collections interventions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4C4C38E-AE4C-D32F-9246-366064B25998}"/>
              </a:ext>
            </a:extLst>
          </p:cNvPr>
          <p:cNvGrpSpPr/>
          <p:nvPr/>
        </p:nvGrpSpPr>
        <p:grpSpPr>
          <a:xfrm>
            <a:off x="387900" y="1489824"/>
            <a:ext cx="8368200" cy="3078900"/>
            <a:chOff x="731520" y="1828800"/>
            <a:chExt cx="10698480" cy="347472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BABA5F-C9E7-BCDE-A1C1-6D0B31EE9509}"/>
                </a:ext>
              </a:extLst>
            </p:cNvPr>
            <p:cNvSpPr/>
            <p:nvPr/>
          </p:nvSpPr>
          <p:spPr>
            <a:xfrm>
              <a:off x="731520" y="1828800"/>
              <a:ext cx="2468880" cy="34747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1CCCD32-5B2D-9FDC-FACC-F5AE04231DCC}"/>
                </a:ext>
              </a:extLst>
            </p:cNvPr>
            <p:cNvSpPr/>
            <p:nvPr/>
          </p:nvSpPr>
          <p:spPr>
            <a:xfrm>
              <a:off x="7315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15CE04C-5193-1DCD-D0A8-90100F17AD3D}"/>
                </a:ext>
              </a:extLst>
            </p:cNvPr>
            <p:cNvSpPr txBox="1"/>
            <p:nvPr/>
          </p:nvSpPr>
          <p:spPr>
            <a:xfrm>
              <a:off x="9144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01</a:t>
              </a:r>
            </a:p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Customer Data &amp;</a:t>
              </a:r>
              <a:br>
                <a:rPr dirty="0">
                  <a:solidFill>
                    <a:schemeClr val="tx1"/>
                  </a:solidFill>
                </a:rPr>
              </a:b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Risk Signals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chemeClr val="tx1"/>
                  </a:solidFill>
                  <a:latin typeface="Verdana"/>
                </a:rPr>
                <a:t>Combines payment histories, credit utilization rates, and missed payments with delinquency risk predictions</a:t>
              </a:r>
              <a:r>
                <a:rPr sz="1100" b="0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.</a:t>
              </a:r>
            </a:p>
          </p:txBody>
        </p:sp>
        <p:sp>
          <p:nvSpPr>
            <p:cNvPr id="30" name="Chevron 6">
              <a:extLst>
                <a:ext uri="{FF2B5EF4-FFF2-40B4-BE49-F238E27FC236}">
                  <a16:creationId xmlns:a16="http://schemas.microsoft.com/office/drawing/2014/main" id="{CE4AD200-1A86-3F9D-037C-3D6E4EA1964A}"/>
                </a:ext>
              </a:extLst>
            </p:cNvPr>
            <p:cNvSpPr/>
            <p:nvPr/>
          </p:nvSpPr>
          <p:spPr>
            <a:xfrm>
              <a:off x="3246120" y="3429000"/>
              <a:ext cx="182880" cy="274320"/>
            </a:xfrm>
            <a:prstGeom prst="chevron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DF97AC2-18A5-6887-C471-9DBC7E225615}"/>
                </a:ext>
              </a:extLst>
            </p:cNvPr>
            <p:cNvSpPr/>
            <p:nvPr/>
          </p:nvSpPr>
          <p:spPr>
            <a:xfrm>
              <a:off x="3474720" y="1828800"/>
              <a:ext cx="2468880" cy="34747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B245404-2965-1955-1B32-5EA201DCF537}"/>
                </a:ext>
              </a:extLst>
            </p:cNvPr>
            <p:cNvSpPr/>
            <p:nvPr/>
          </p:nvSpPr>
          <p:spPr>
            <a:xfrm>
              <a:off x="34747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E741F6-375B-E725-3409-F21832751E7C}"/>
                </a:ext>
              </a:extLst>
            </p:cNvPr>
            <p:cNvSpPr txBox="1"/>
            <p:nvPr/>
          </p:nvSpPr>
          <p:spPr>
            <a:xfrm>
              <a:off x="36576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02</a:t>
              </a:r>
            </a:p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AI Decision</a:t>
              </a:r>
              <a:br>
                <a:rPr dirty="0">
                  <a:solidFill>
                    <a:schemeClr val="tx1"/>
                  </a:solidFill>
                </a:rPr>
              </a:b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Engine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chemeClr val="tx1"/>
                  </a:solidFill>
                  <a:latin typeface="Verdana"/>
                </a:rPr>
                <a:t>Assesses customer risk levels in real time to recommend proportionate and tailored intervention rules.</a:t>
              </a:r>
            </a:p>
          </p:txBody>
        </p:sp>
        <p:sp>
          <p:nvSpPr>
            <p:cNvPr id="34" name="Chevron 10">
              <a:extLst>
                <a:ext uri="{FF2B5EF4-FFF2-40B4-BE49-F238E27FC236}">
                  <a16:creationId xmlns:a16="http://schemas.microsoft.com/office/drawing/2014/main" id="{11F2F373-4DF0-0802-A489-6472063FCD78}"/>
                </a:ext>
              </a:extLst>
            </p:cNvPr>
            <p:cNvSpPr/>
            <p:nvPr/>
          </p:nvSpPr>
          <p:spPr>
            <a:xfrm>
              <a:off x="5989320" y="3429000"/>
              <a:ext cx="182880" cy="274320"/>
            </a:xfrm>
            <a:prstGeom prst="chevron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954EC15-F5E1-B54B-B158-A70F181040FF}"/>
                </a:ext>
              </a:extLst>
            </p:cNvPr>
            <p:cNvSpPr/>
            <p:nvPr/>
          </p:nvSpPr>
          <p:spPr>
            <a:xfrm>
              <a:off x="6217920" y="1828800"/>
              <a:ext cx="2468880" cy="34747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758717D-6A07-E60A-0722-B1E072FA8BBD}"/>
                </a:ext>
              </a:extLst>
            </p:cNvPr>
            <p:cNvSpPr/>
            <p:nvPr/>
          </p:nvSpPr>
          <p:spPr>
            <a:xfrm>
              <a:off x="62179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6935E5-B3E2-6F7A-462E-1C2E7DF9BE95}"/>
                </a:ext>
              </a:extLst>
            </p:cNvPr>
            <p:cNvSpPr txBox="1"/>
            <p:nvPr/>
          </p:nvSpPr>
          <p:spPr>
            <a:xfrm>
              <a:off x="64008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03</a:t>
              </a:r>
            </a:p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Personalized</a:t>
              </a:r>
              <a:br>
                <a:rPr dirty="0">
                  <a:solidFill>
                    <a:schemeClr val="tx1"/>
                  </a:solidFill>
                </a:rPr>
              </a:b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Actions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chemeClr val="tx1"/>
                  </a:solidFill>
                  <a:latin typeface="Verdana"/>
                </a:rPr>
                <a:t>Delivers custom remedies: tailored outreach timing, hardship support, or specialist escalation.</a:t>
              </a:r>
            </a:p>
          </p:txBody>
        </p:sp>
        <p:sp>
          <p:nvSpPr>
            <p:cNvPr id="38" name="Chevron 14">
              <a:extLst>
                <a:ext uri="{FF2B5EF4-FFF2-40B4-BE49-F238E27FC236}">
                  <a16:creationId xmlns:a16="http://schemas.microsoft.com/office/drawing/2014/main" id="{E4409292-7C53-64E2-5249-976E313014D7}"/>
                </a:ext>
              </a:extLst>
            </p:cNvPr>
            <p:cNvSpPr/>
            <p:nvPr/>
          </p:nvSpPr>
          <p:spPr>
            <a:xfrm>
              <a:off x="8732520" y="3429000"/>
              <a:ext cx="182880" cy="274320"/>
            </a:xfrm>
            <a:prstGeom prst="chevron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97CBC65-8EFB-E1D6-1624-BB3364B96CA0}"/>
                </a:ext>
              </a:extLst>
            </p:cNvPr>
            <p:cNvSpPr/>
            <p:nvPr/>
          </p:nvSpPr>
          <p:spPr>
            <a:xfrm>
              <a:off x="8961120" y="1828800"/>
              <a:ext cx="2468880" cy="34747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FAE1BED-A133-9330-C7AD-B9802B1E9DF3}"/>
                </a:ext>
              </a:extLst>
            </p:cNvPr>
            <p:cNvSpPr/>
            <p:nvPr/>
          </p:nvSpPr>
          <p:spPr>
            <a:xfrm>
              <a:off x="89611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9F22AB3-2357-6705-1ED3-218F67229BFB}"/>
                </a:ext>
              </a:extLst>
            </p:cNvPr>
            <p:cNvSpPr txBox="1"/>
            <p:nvPr/>
          </p:nvSpPr>
          <p:spPr>
            <a:xfrm>
              <a:off x="91440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04</a:t>
              </a:r>
            </a:p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Continuous</a:t>
              </a:r>
              <a:br>
                <a:rPr dirty="0">
                  <a:solidFill>
                    <a:schemeClr val="tx1"/>
                  </a:solidFill>
                </a:rPr>
              </a:br>
              <a:r>
                <a:rPr sz="1400" b="1" i="0" dirty="0">
                  <a:solidFill>
                    <a:schemeClr val="tx1"/>
                  </a:solidFill>
                  <a:latin typeface="Georgia"/>
                </a:rPr>
                <a:t>Learning Loop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chemeClr val="tx1"/>
                  </a:solidFill>
                  <a:latin typeface="Verdana"/>
                </a:rPr>
                <a:t>Monitors repayment outcomes and customer responses to evaluate effectiveness and improve decisions.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3AC83D-D3B6-39EE-C548-C2CB2AD63F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normAutofit fontScale="9000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8BC34A"/>
                </a:solidFill>
                <a:latin typeface="Verdana"/>
              </a:rPr>
              <a:t>ADAPTIVE DECISION-MAKING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chemeClr val="tx1"/>
                </a:solidFill>
                <a:latin typeface="Georgia"/>
              </a:rPr>
              <a:t>A continuous closed-loop system adapts collections strategies based on behavior and outcomes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53B7AC-5D96-09C0-9626-C3250C5899C0}"/>
              </a:ext>
            </a:extLst>
          </p:cNvPr>
          <p:cNvGrpSpPr/>
          <p:nvPr/>
        </p:nvGrpSpPr>
        <p:grpSpPr>
          <a:xfrm>
            <a:off x="387900" y="1508760"/>
            <a:ext cx="8256227" cy="3176715"/>
            <a:chOff x="731520" y="1508760"/>
            <a:chExt cx="10728655" cy="37947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80F7FD-EE32-CD3C-0063-C0EB488E1825}"/>
                </a:ext>
              </a:extLst>
            </p:cNvPr>
            <p:cNvSpPr/>
            <p:nvPr/>
          </p:nvSpPr>
          <p:spPr>
            <a:xfrm>
              <a:off x="731520" y="1508760"/>
              <a:ext cx="10728655" cy="1905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285C4-1FE0-B0CB-FDCC-8386855EB079}"/>
                </a:ext>
              </a:extLst>
            </p:cNvPr>
            <p:cNvSpPr/>
            <p:nvPr/>
          </p:nvSpPr>
          <p:spPr>
            <a:xfrm>
              <a:off x="731520" y="1828800"/>
              <a:ext cx="2468880" cy="34747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A2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C520BD-C661-0D30-11AD-A730EFACAF43}"/>
                </a:ext>
              </a:extLst>
            </p:cNvPr>
            <p:cNvSpPr/>
            <p:nvPr/>
          </p:nvSpPr>
          <p:spPr>
            <a:xfrm>
              <a:off x="7315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2D8215-A210-736F-DEAF-F0165E69B409}"/>
                </a:ext>
              </a:extLst>
            </p:cNvPr>
            <p:cNvSpPr txBox="1"/>
            <p:nvPr/>
          </p:nvSpPr>
          <p:spPr>
            <a:xfrm>
              <a:off x="9144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01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400" b="1" i="0" dirty="0">
                  <a:solidFill>
                    <a:srgbClr val="FFFFFF"/>
                  </a:solidFill>
                  <a:latin typeface="Georgia"/>
                </a:rPr>
                <a:t>PREDICT</a:t>
              </a:r>
            </a:p>
            <a:p>
              <a:pPr algn="l">
                <a:spcBef>
                  <a:spcPts val="0"/>
                </a:spcBef>
                <a:spcAft>
                  <a:spcPts val="10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Identify At-Risk Customers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rgbClr val="ECF0F4"/>
                  </a:solidFill>
                  <a:latin typeface="Verdana"/>
                </a:rPr>
                <a:t>Scan payment patterns and credit utilization risk signals to identify customers trending toward delinquency.</a:t>
              </a:r>
            </a:p>
          </p:txBody>
        </p:sp>
        <p:sp>
          <p:nvSpPr>
            <p:cNvPr id="11" name="Chevron 6">
              <a:extLst>
                <a:ext uri="{FF2B5EF4-FFF2-40B4-BE49-F238E27FC236}">
                  <a16:creationId xmlns:a16="http://schemas.microsoft.com/office/drawing/2014/main" id="{BFEC1E97-96A3-115E-C819-0921DCCBD024}"/>
                </a:ext>
              </a:extLst>
            </p:cNvPr>
            <p:cNvSpPr/>
            <p:nvPr/>
          </p:nvSpPr>
          <p:spPr>
            <a:xfrm>
              <a:off x="3246120" y="3429000"/>
              <a:ext cx="182880" cy="274320"/>
            </a:xfrm>
            <a:prstGeom prst="chevron">
              <a:avLst/>
            </a:prstGeom>
            <a:solidFill>
              <a:srgbClr val="C5A0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A17BFE-9F32-C150-A6C5-075F2F530A03}"/>
                </a:ext>
              </a:extLst>
            </p:cNvPr>
            <p:cNvSpPr/>
            <p:nvPr/>
          </p:nvSpPr>
          <p:spPr>
            <a:xfrm>
              <a:off x="3474720" y="1828800"/>
              <a:ext cx="2468880" cy="34747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4EB461-B69D-B93A-8293-E09A0101196F}"/>
                </a:ext>
              </a:extLst>
            </p:cNvPr>
            <p:cNvSpPr/>
            <p:nvPr/>
          </p:nvSpPr>
          <p:spPr>
            <a:xfrm>
              <a:off x="34747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38A7EC-9987-86DC-39BB-A88926625110}"/>
                </a:ext>
              </a:extLst>
            </p:cNvPr>
            <p:cNvSpPr txBox="1"/>
            <p:nvPr/>
          </p:nvSpPr>
          <p:spPr>
            <a:xfrm>
              <a:off x="36576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02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400" b="1" i="0" dirty="0">
                  <a:solidFill>
                    <a:schemeClr val="tx2">
                      <a:lumMod val="10000"/>
                    </a:schemeClr>
                  </a:solidFill>
                  <a:latin typeface="Georgia"/>
                </a:rPr>
                <a:t>DECIDE</a:t>
              </a:r>
            </a:p>
            <a:p>
              <a:pPr algn="l">
                <a:spcBef>
                  <a:spcPts val="0"/>
                </a:spcBef>
                <a:spcAft>
                  <a:spcPts val="10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Select Proportionate Action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Analyze the specific risk tier and personal context to select an appropriate, ethical intervention.</a:t>
              </a:r>
            </a:p>
          </p:txBody>
        </p:sp>
        <p:sp>
          <p:nvSpPr>
            <p:cNvPr id="15" name="Chevron 10">
              <a:extLst>
                <a:ext uri="{FF2B5EF4-FFF2-40B4-BE49-F238E27FC236}">
                  <a16:creationId xmlns:a16="http://schemas.microsoft.com/office/drawing/2014/main" id="{9FF698B2-D044-E8B7-7929-2AF32D340D89}"/>
                </a:ext>
              </a:extLst>
            </p:cNvPr>
            <p:cNvSpPr/>
            <p:nvPr/>
          </p:nvSpPr>
          <p:spPr>
            <a:xfrm>
              <a:off x="5989320" y="3429000"/>
              <a:ext cx="182880" cy="274320"/>
            </a:xfrm>
            <a:prstGeom prst="chevron">
              <a:avLst/>
            </a:prstGeom>
            <a:solidFill>
              <a:srgbClr val="C5A0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661282-266E-45A7-C5C6-E59F77EB8ADB}"/>
                </a:ext>
              </a:extLst>
            </p:cNvPr>
            <p:cNvSpPr/>
            <p:nvPr/>
          </p:nvSpPr>
          <p:spPr>
            <a:xfrm>
              <a:off x="6217920" y="1828800"/>
              <a:ext cx="2468880" cy="34747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A2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FFAB131-994A-0380-331C-590F6A1BBEDE}"/>
                </a:ext>
              </a:extLst>
            </p:cNvPr>
            <p:cNvSpPr/>
            <p:nvPr/>
          </p:nvSpPr>
          <p:spPr>
            <a:xfrm>
              <a:off x="62179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FF16BE-3835-9FA8-6386-AB80F02DDC61}"/>
                </a:ext>
              </a:extLst>
            </p:cNvPr>
            <p:cNvSpPr txBox="1"/>
            <p:nvPr/>
          </p:nvSpPr>
          <p:spPr>
            <a:xfrm>
              <a:off x="64008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03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400" b="1" i="0" dirty="0">
                  <a:solidFill>
                    <a:srgbClr val="FFFFFF"/>
                  </a:solidFill>
                  <a:latin typeface="Georgia"/>
                </a:rPr>
                <a:t>ACT</a:t>
              </a:r>
            </a:p>
            <a:p>
              <a:pPr algn="l">
                <a:spcBef>
                  <a:spcPts val="0"/>
                </a:spcBef>
                <a:spcAft>
                  <a:spcPts val="10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Execute Custom Outreach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rgbClr val="ECF0F4"/>
                  </a:solidFill>
                  <a:latin typeface="Verdana"/>
                </a:rPr>
                <a:t>Deliver highly personalized reminders and hardship choices via the customer's preferred channel and optimal timing.</a:t>
              </a:r>
            </a:p>
          </p:txBody>
        </p:sp>
        <p:sp>
          <p:nvSpPr>
            <p:cNvPr id="19" name="Chevron 14">
              <a:extLst>
                <a:ext uri="{FF2B5EF4-FFF2-40B4-BE49-F238E27FC236}">
                  <a16:creationId xmlns:a16="http://schemas.microsoft.com/office/drawing/2014/main" id="{A3D1CF15-316D-AAEB-84BB-5E203CD59AC9}"/>
                </a:ext>
              </a:extLst>
            </p:cNvPr>
            <p:cNvSpPr/>
            <p:nvPr/>
          </p:nvSpPr>
          <p:spPr>
            <a:xfrm>
              <a:off x="8732520" y="3429000"/>
              <a:ext cx="182880" cy="274320"/>
            </a:xfrm>
            <a:prstGeom prst="chevron">
              <a:avLst/>
            </a:prstGeom>
            <a:solidFill>
              <a:srgbClr val="C5A0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DDD8D0-87B1-1B6E-7758-B4254029A3B6}"/>
                </a:ext>
              </a:extLst>
            </p:cNvPr>
            <p:cNvSpPr/>
            <p:nvPr/>
          </p:nvSpPr>
          <p:spPr>
            <a:xfrm>
              <a:off x="8961120" y="1828800"/>
              <a:ext cx="2468880" cy="34747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F0B227-FDA3-FF45-1BED-99A0F3CF0F32}"/>
                </a:ext>
              </a:extLst>
            </p:cNvPr>
            <p:cNvSpPr/>
            <p:nvPr/>
          </p:nvSpPr>
          <p:spPr>
            <a:xfrm>
              <a:off x="8961120" y="1828800"/>
              <a:ext cx="246888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7A9502-D80E-3343-2DEA-54D59D2A657B}"/>
                </a:ext>
              </a:extLst>
            </p:cNvPr>
            <p:cNvSpPr txBox="1"/>
            <p:nvPr/>
          </p:nvSpPr>
          <p:spPr>
            <a:xfrm>
              <a:off x="9144000" y="2103120"/>
              <a:ext cx="2103120" cy="301752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2400" b="1" i="0" dirty="0">
                  <a:solidFill>
                    <a:srgbClr val="8BC34A"/>
                  </a:solidFill>
                  <a:latin typeface="Verdana"/>
                </a:rPr>
                <a:t>04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400" b="1" i="0" dirty="0">
                  <a:solidFill>
                    <a:schemeClr val="tx2">
                      <a:lumMod val="10000"/>
                    </a:schemeClr>
                  </a:solidFill>
                  <a:latin typeface="Georgia"/>
                </a:rPr>
                <a:t>LEARN</a:t>
              </a:r>
            </a:p>
            <a:p>
              <a:pPr algn="l">
                <a:spcBef>
                  <a:spcPts val="0"/>
                </a:spcBef>
                <a:spcAft>
                  <a:spcPts val="10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Refine Strategy Rules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Synthesize repayment outcomes and customer engagement indicators to update future decision-making rules.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9E54EC4-722C-D27D-3314-4D6395CD7C32}"/>
              </a:ext>
            </a:extLst>
          </p:cNvPr>
          <p:cNvGrpSpPr/>
          <p:nvPr/>
        </p:nvGrpSpPr>
        <p:grpSpPr>
          <a:xfrm>
            <a:off x="329184" y="274321"/>
            <a:ext cx="8473441" cy="4614672"/>
            <a:chOff x="731520" y="274320"/>
            <a:chExt cx="10728655" cy="530351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DF85847-415E-1CE7-BB60-237BD333E945}"/>
                </a:ext>
              </a:extLst>
            </p:cNvPr>
            <p:cNvSpPr txBox="1"/>
            <p:nvPr/>
          </p:nvSpPr>
          <p:spPr>
            <a:xfrm>
              <a:off x="731520" y="274320"/>
              <a:ext cx="10728655" cy="109728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200"/>
                </a:spcAft>
              </a:pPr>
              <a:r>
                <a:rPr sz="1000" b="1" i="0" dirty="0">
                  <a:solidFill>
                    <a:srgbClr val="8BC34A"/>
                  </a:solidFill>
                  <a:latin typeface="Verdana"/>
                </a:rPr>
                <a:t>HUMAN-AI COLLABORATION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 dirty="0">
                  <a:solidFill>
                    <a:schemeClr val="tx1"/>
                  </a:solidFill>
                  <a:latin typeface="Georgia"/>
                </a:rPr>
                <a:t>AI automates routine, low-risk decisions while human specialists handle complex cases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1C5634-8B0E-C1F0-F7B3-84FA1E535386}"/>
                </a:ext>
              </a:extLst>
            </p:cNvPr>
            <p:cNvSpPr/>
            <p:nvPr/>
          </p:nvSpPr>
          <p:spPr>
            <a:xfrm>
              <a:off x="731520" y="1508760"/>
              <a:ext cx="10728655" cy="1905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39130A-3FA2-458D-E4C9-A75E844B1CDF}"/>
                </a:ext>
              </a:extLst>
            </p:cNvPr>
            <p:cNvSpPr/>
            <p:nvPr/>
          </p:nvSpPr>
          <p:spPr>
            <a:xfrm>
              <a:off x="731520" y="1828800"/>
              <a:ext cx="5120640" cy="37490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9EDACAF-D62F-BB0D-7E43-8130A29C438F}"/>
                </a:ext>
              </a:extLst>
            </p:cNvPr>
            <p:cNvSpPr/>
            <p:nvPr/>
          </p:nvSpPr>
          <p:spPr>
            <a:xfrm>
              <a:off x="731520" y="1828800"/>
              <a:ext cx="512064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1" i="0" dirty="0">
                  <a:solidFill>
                    <a:srgbClr val="FFFFFF"/>
                  </a:solidFill>
                  <a:latin typeface="Verdana"/>
                </a:rPr>
                <a:t>AUTONOMOUS AI ACTIVITIES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B66B04-045A-7639-103A-7B91FC82A926}"/>
                </a:ext>
              </a:extLst>
            </p:cNvPr>
            <p:cNvSpPr txBox="1"/>
            <p:nvPr/>
          </p:nvSpPr>
          <p:spPr>
            <a:xfrm>
              <a:off x="1005840" y="2468880"/>
              <a:ext cx="4572000" cy="2926079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• Prioritize customers dynamically: </a:t>
              </a:r>
              <a:r>
                <a:rPr sz="1100" b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Analyzes live risk signals to rank accounts based on urgency and risk profile.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• Trigger routine payment reminders: </a:t>
              </a:r>
              <a:r>
                <a:rPr sz="1100" b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Automates standard text, email, and app reminders for early-stage defaults.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• Personalize outreach channels &amp; timing: </a:t>
              </a:r>
              <a:r>
                <a:rPr sz="1100" b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Tailors delivery methods and schedules based on proven high-engagement windows.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• Monitor engagement response patterns: </a:t>
              </a:r>
              <a:r>
                <a:rPr sz="1100" b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Identifies initial signs of active customer response or avoidance behavior.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• Learn from intervention outcomes: </a:t>
              </a:r>
              <a:r>
                <a:rPr sz="1100" b="0" dirty="0">
                  <a:solidFill>
                    <a:schemeClr val="tx2">
                      <a:lumMod val="10000"/>
                    </a:schemeClr>
                  </a:solidFill>
                  <a:latin typeface="Verdana"/>
                </a:rPr>
                <a:t>Autonomously refines decision-rules and updates internal prediction vectors.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537795-5471-F3D6-A52C-F78245EBC25D}"/>
                </a:ext>
              </a:extLst>
            </p:cNvPr>
            <p:cNvSpPr/>
            <p:nvPr/>
          </p:nvSpPr>
          <p:spPr>
            <a:xfrm>
              <a:off x="6309360" y="1828800"/>
              <a:ext cx="5120640" cy="374903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C5A0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64364E9-AD48-2477-4FA3-CD3BE5CE7CE4}"/>
                </a:ext>
              </a:extLst>
            </p:cNvPr>
            <p:cNvSpPr/>
            <p:nvPr/>
          </p:nvSpPr>
          <p:spPr>
            <a:xfrm>
              <a:off x="6309360" y="1828800"/>
              <a:ext cx="5120640" cy="4572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00" b="1" i="0" dirty="0">
                  <a:solidFill>
                    <a:srgbClr val="FFFFFF"/>
                  </a:solidFill>
                  <a:latin typeface="Verdana"/>
                </a:rPr>
                <a:t>HUMAN OVERSIGHT ACTIVITIES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76A307-E85C-8414-299A-75B0AF1154D2}"/>
                </a:ext>
              </a:extLst>
            </p:cNvPr>
            <p:cNvSpPr txBox="1"/>
            <p:nvPr/>
          </p:nvSpPr>
          <p:spPr>
            <a:xfrm>
              <a:off x="6583680" y="2468880"/>
              <a:ext cx="4572000" cy="2926079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rgbClr val="1A2A3A"/>
                  </a:solidFill>
                  <a:latin typeface="Verdana"/>
                </a:rPr>
                <a:t>• Review high-impact or sensitive actions: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Manages major system recommendations, ensuring alignment with customer needs.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rgbClr val="1A2A3A"/>
                  </a:solidFill>
                  <a:latin typeface="Verdana"/>
                </a:rPr>
                <a:t>• Handle customer disputes &amp; complaints: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Manages complex cases where empathetic human communication is crucial.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rgbClr val="1A2A3A"/>
                  </a:solidFill>
                  <a:latin typeface="Verdana"/>
                </a:rPr>
                <a:t>• Approve custom exceptions &amp; hardship plans: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Reviews and approves unique debt structures, modifications, or waivers.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rgbClr val="1A2A3A"/>
                  </a:solidFill>
                  <a:latin typeface="Verdana"/>
                </a:rPr>
                <a:t>• Investigate unusual or borderline accounts: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Steps in for edge-case assessments where risk factors are ambiguous.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1100" b="1" i="0" dirty="0">
                  <a:solidFill>
                    <a:srgbClr val="1A2A3A"/>
                  </a:solidFill>
                  <a:latin typeface="Verdana"/>
                </a:rPr>
                <a:t>• Audit system fairness &amp; compliance: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Continuously reviews decision logs to prevent bias and ensure legal adherence.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273B7B-A15D-F564-A63D-817EB111259B}"/>
              </a:ext>
            </a:extLst>
          </p:cNvPr>
          <p:cNvGrpSpPr/>
          <p:nvPr/>
        </p:nvGrpSpPr>
        <p:grpSpPr>
          <a:xfrm>
            <a:off x="256032" y="213360"/>
            <a:ext cx="8680703" cy="4700016"/>
            <a:chOff x="731520" y="274320"/>
            <a:chExt cx="10728655" cy="5303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D6EA5A-F7AC-46CD-06E6-A3F61511735E}"/>
                </a:ext>
              </a:extLst>
            </p:cNvPr>
            <p:cNvSpPr txBox="1"/>
            <p:nvPr/>
          </p:nvSpPr>
          <p:spPr>
            <a:xfrm>
              <a:off x="731520" y="274320"/>
              <a:ext cx="10728655" cy="109728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200"/>
                </a:spcAft>
              </a:pPr>
              <a:r>
                <a:rPr sz="1000" b="1" i="0" dirty="0">
                  <a:solidFill>
                    <a:srgbClr val="8BC34A"/>
                  </a:solidFill>
                  <a:latin typeface="Verdana"/>
                </a:rPr>
                <a:t>RESPONSIBLE AI GUARDRAILS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 dirty="0">
                  <a:solidFill>
                    <a:schemeClr val="tx1"/>
                  </a:solidFill>
                  <a:latin typeface="Georgia"/>
                </a:rPr>
                <a:t>Four core guardrails guarantee fairness, transparency, and compliance in every decision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50E1182-46BD-A525-40BA-E38CF5938E5D}"/>
                </a:ext>
              </a:extLst>
            </p:cNvPr>
            <p:cNvSpPr/>
            <p:nvPr/>
          </p:nvSpPr>
          <p:spPr>
            <a:xfrm>
              <a:off x="731520" y="1508760"/>
              <a:ext cx="10728655" cy="1905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0B07EF-0286-BFD6-18E6-02450094891D}"/>
                </a:ext>
              </a:extLst>
            </p:cNvPr>
            <p:cNvSpPr/>
            <p:nvPr/>
          </p:nvSpPr>
          <p:spPr>
            <a:xfrm>
              <a:off x="731520" y="1828800"/>
              <a:ext cx="5120640" cy="1737360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92D56-4AAB-48ED-E874-A625E3136B39}"/>
                </a:ext>
              </a:extLst>
            </p:cNvPr>
            <p:cNvSpPr/>
            <p:nvPr/>
          </p:nvSpPr>
          <p:spPr>
            <a:xfrm>
              <a:off x="731520" y="1828800"/>
              <a:ext cx="50800" cy="173736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3D5A76-CF39-261D-AAEE-B93A566D7A6C}"/>
                </a:ext>
              </a:extLst>
            </p:cNvPr>
            <p:cNvSpPr txBox="1"/>
            <p:nvPr/>
          </p:nvSpPr>
          <p:spPr>
            <a:xfrm>
              <a:off x="960120" y="2011680"/>
              <a:ext cx="4754880" cy="13716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400" b="1" i="0" dirty="0">
                  <a:solidFill>
                    <a:srgbClr val="1A2A3A"/>
                  </a:solidFill>
                  <a:latin typeface="Georgia"/>
                </a:rPr>
                <a:t>1. Fairness Monitoring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rgbClr val="607283"/>
                  </a:solidFill>
                  <a:latin typeface="Verdana"/>
                </a:rPr>
                <a:t>Regularly test outcome metrics across varied demographic and customer segments to identify, address, and mitigate potential systemic bias or unfair collections treatment.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19C7A1-CB14-5875-77AB-5ADAA1868F90}"/>
                </a:ext>
              </a:extLst>
            </p:cNvPr>
            <p:cNvSpPr/>
            <p:nvPr/>
          </p:nvSpPr>
          <p:spPr>
            <a:xfrm>
              <a:off x="6309360" y="1828800"/>
              <a:ext cx="5120640" cy="1737360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442E478-0918-AC04-EDCD-3301A3E19794}"/>
                </a:ext>
              </a:extLst>
            </p:cNvPr>
            <p:cNvSpPr/>
            <p:nvPr/>
          </p:nvSpPr>
          <p:spPr>
            <a:xfrm>
              <a:off x="6309360" y="1828800"/>
              <a:ext cx="50800" cy="173736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10D8AE-1578-C135-AB92-F885BF9EAB17}"/>
                </a:ext>
              </a:extLst>
            </p:cNvPr>
            <p:cNvSpPr txBox="1"/>
            <p:nvPr/>
          </p:nvSpPr>
          <p:spPr>
            <a:xfrm>
              <a:off x="6537960" y="2011680"/>
              <a:ext cx="4754880" cy="13716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400" b="1" i="0" dirty="0">
                  <a:solidFill>
                    <a:srgbClr val="1A2A3A"/>
                  </a:solidFill>
                  <a:latin typeface="Georgia"/>
                </a:rPr>
                <a:t>2. Explainable Decisions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 dirty="0">
                  <a:solidFill>
                    <a:srgbClr val="607283"/>
                  </a:solidFill>
                  <a:latin typeface="Verdana"/>
                </a:rPr>
                <a:t>Maintain precise documentation and logs of the primary financial and risk signals that influence individual delinquency risk scores and recommended system remedies.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8A48E4-5A09-0F20-A508-167D8F5B6D33}"/>
                </a:ext>
              </a:extLst>
            </p:cNvPr>
            <p:cNvSpPr/>
            <p:nvPr/>
          </p:nvSpPr>
          <p:spPr>
            <a:xfrm>
              <a:off x="731520" y="3840480"/>
              <a:ext cx="5120640" cy="1737360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E18F099-F0DB-4371-21FA-2B8703222652}"/>
                </a:ext>
              </a:extLst>
            </p:cNvPr>
            <p:cNvSpPr/>
            <p:nvPr/>
          </p:nvSpPr>
          <p:spPr>
            <a:xfrm>
              <a:off x="731520" y="3840480"/>
              <a:ext cx="50800" cy="173736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73F435-7F7A-9AD0-D6AF-CA1CE7B50967}"/>
                </a:ext>
              </a:extLst>
            </p:cNvPr>
            <p:cNvSpPr txBox="1"/>
            <p:nvPr/>
          </p:nvSpPr>
          <p:spPr>
            <a:xfrm>
              <a:off x="960120" y="4023360"/>
              <a:ext cx="4754880" cy="13716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400" b="1" i="0">
                  <a:solidFill>
                    <a:srgbClr val="1A2A3A"/>
                  </a:solidFill>
                  <a:latin typeface="Georgia"/>
                </a:rPr>
                <a:t>3. Human-in-the-Loop Controls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607283"/>
                  </a:solidFill>
                  <a:latin typeface="Verdana"/>
                </a:rPr>
                <a:t>Ensure all high-impact, sensitive, and borderline collections recommendations are automatically routed for direct review, verification, and sign-off by a collections officer.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A18655-0D48-0DB0-C870-867A08176B30}"/>
                </a:ext>
              </a:extLst>
            </p:cNvPr>
            <p:cNvSpPr/>
            <p:nvPr/>
          </p:nvSpPr>
          <p:spPr>
            <a:xfrm>
              <a:off x="6309360" y="3840480"/>
              <a:ext cx="5120640" cy="1737360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76AB06-ED44-3B51-6144-1A613E834919}"/>
                </a:ext>
              </a:extLst>
            </p:cNvPr>
            <p:cNvSpPr/>
            <p:nvPr/>
          </p:nvSpPr>
          <p:spPr>
            <a:xfrm>
              <a:off x="6309360" y="3840480"/>
              <a:ext cx="50800" cy="173736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8BC34A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188D0B-C863-C7F6-E4D9-9395259D825C}"/>
                </a:ext>
              </a:extLst>
            </p:cNvPr>
            <p:cNvSpPr txBox="1"/>
            <p:nvPr/>
          </p:nvSpPr>
          <p:spPr>
            <a:xfrm>
              <a:off x="6537960" y="4023360"/>
              <a:ext cx="4754880" cy="13716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400" b="1" i="0">
                  <a:solidFill>
                    <a:srgbClr val="1A2A3A"/>
                  </a:solidFill>
                  <a:latin typeface="Georgia"/>
                </a:rPr>
                <a:t>4. Compliance &amp; Auditability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607283"/>
                  </a:solidFill>
                  <a:latin typeface="Verdana"/>
                </a:rPr>
                <a:t>Build transparent audit trails and version control logs of all training datasets, system decision-rules, model revisions, and automated communications.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57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C6187A7-FE4A-D9FC-5105-F09E982EA120}"/>
              </a:ext>
            </a:extLst>
          </p:cNvPr>
          <p:cNvGrpSpPr/>
          <p:nvPr/>
        </p:nvGrpSpPr>
        <p:grpSpPr>
          <a:xfrm>
            <a:off x="193041" y="254000"/>
            <a:ext cx="8717280" cy="4693920"/>
            <a:chOff x="731520" y="274320"/>
            <a:chExt cx="10728655" cy="56692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8E72F3-F43E-CF10-8A6A-09A1E0D605F0}"/>
                </a:ext>
              </a:extLst>
            </p:cNvPr>
            <p:cNvSpPr txBox="1"/>
            <p:nvPr/>
          </p:nvSpPr>
          <p:spPr>
            <a:xfrm>
              <a:off x="731520" y="274320"/>
              <a:ext cx="10728655" cy="109728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200"/>
                </a:spcAft>
              </a:pPr>
              <a:r>
                <a:rPr sz="1000" b="1" i="0" dirty="0">
                  <a:solidFill>
                    <a:srgbClr val="8BC34A"/>
                  </a:solidFill>
                  <a:latin typeface="Verdana"/>
                </a:rPr>
                <a:t>EXPECTED BUSINESS IMPACT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 dirty="0">
                  <a:solidFill>
                    <a:schemeClr val="tx1"/>
                  </a:solidFill>
                  <a:latin typeface="Georgia"/>
                </a:rPr>
                <a:t>Intelligent collections lower delinquency while building long-term customer trust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FF99E9-A8E2-A1A0-E090-F61A74FC0325}"/>
                </a:ext>
              </a:extLst>
            </p:cNvPr>
            <p:cNvSpPr/>
            <p:nvPr/>
          </p:nvSpPr>
          <p:spPr>
            <a:xfrm>
              <a:off x="731520" y="1508760"/>
              <a:ext cx="10728655" cy="1905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01705A-34CC-7FB5-5E1C-35CCA517EA22}"/>
                </a:ext>
              </a:extLst>
            </p:cNvPr>
            <p:cNvSpPr/>
            <p:nvPr/>
          </p:nvSpPr>
          <p:spPr>
            <a:xfrm>
              <a:off x="731520" y="1828799"/>
              <a:ext cx="5120640" cy="2952749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CB764A-A59B-FE9B-D600-F6C9F5F30DFF}"/>
                </a:ext>
              </a:extLst>
            </p:cNvPr>
            <p:cNvSpPr/>
            <p:nvPr/>
          </p:nvSpPr>
          <p:spPr>
            <a:xfrm>
              <a:off x="731520" y="1828800"/>
              <a:ext cx="512064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06496B-C81D-6BC2-345B-EC93C9696E3E}"/>
                </a:ext>
              </a:extLst>
            </p:cNvPr>
            <p:cNvSpPr txBox="1"/>
            <p:nvPr/>
          </p:nvSpPr>
          <p:spPr>
            <a:xfrm>
              <a:off x="1005840" y="2103120"/>
              <a:ext cx="4572000" cy="237744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1400" b="1" i="0" dirty="0">
                  <a:solidFill>
                    <a:srgbClr val="1A2A3A"/>
                  </a:solidFill>
                  <a:latin typeface="Georgia"/>
                </a:rPr>
                <a:t>BUSINESS KPIs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Reduced delinquency rates through earlier, proactive customer identification.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Improved repayment and customer engagement rates across early-stage tiers.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More efficient use of Collections team resources via routine automation.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Lower cost per successful collection due to digital-first communication channels.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Scalable and continuously improving operations through system learning.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2E1B51-DC2B-6314-327B-FC5AE4D0A30D}"/>
                </a:ext>
              </a:extLst>
            </p:cNvPr>
            <p:cNvSpPr/>
            <p:nvPr/>
          </p:nvSpPr>
          <p:spPr>
            <a:xfrm>
              <a:off x="6309360" y="1828801"/>
              <a:ext cx="5120640" cy="2952750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12700">
              <a:solidFill>
                <a:srgbClr val="ECF0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9A707F-6064-CF07-D550-287B33F61601}"/>
                </a:ext>
              </a:extLst>
            </p:cNvPr>
            <p:cNvSpPr/>
            <p:nvPr/>
          </p:nvSpPr>
          <p:spPr>
            <a:xfrm>
              <a:off x="6309360" y="1828800"/>
              <a:ext cx="5120640" cy="508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2F9315-B73E-8C75-71E6-340370880B25}"/>
                </a:ext>
              </a:extLst>
            </p:cNvPr>
            <p:cNvSpPr txBox="1"/>
            <p:nvPr/>
          </p:nvSpPr>
          <p:spPr>
            <a:xfrm>
              <a:off x="6583680" y="2103120"/>
              <a:ext cx="4572000" cy="237744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spcBef>
                  <a:spcPts val="0"/>
                </a:spcBef>
                <a:spcAft>
                  <a:spcPts val="800"/>
                </a:spcAft>
              </a:pPr>
              <a:r>
                <a:rPr sz="1400" b="1" i="0" dirty="0">
                  <a:solidFill>
                    <a:srgbClr val="1A2A3A"/>
                  </a:solidFill>
                  <a:latin typeface="Georgia"/>
                </a:rPr>
                <a:t>CUSTOMER OUTCOMES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More timely, customized, and relevant operational communication.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Proportionate support pathways matched to customer hardship contexts.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•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Fairer and more consistent treatment by eliminating manual agent bias.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Greater transparency into risk decisions with clear pathways for escalation.</a:t>
              </a:r>
            </a:p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100" b="1" i="0" dirty="0">
                  <a:solidFill>
                    <a:srgbClr val="8BC34A"/>
                  </a:solidFill>
                  <a:latin typeface="Verdana"/>
                </a:rPr>
                <a:t>•</a:t>
              </a:r>
              <a:r>
                <a:rPr sz="1100" b="1" i="0" dirty="0">
                  <a:solidFill>
                    <a:srgbClr val="C5A059"/>
                  </a:solidFill>
                  <a:latin typeface="Verdana"/>
                </a:rPr>
                <a:t> </a:t>
              </a:r>
              <a:r>
                <a:rPr sz="1100" b="0" dirty="0">
                  <a:solidFill>
                    <a:srgbClr val="607283"/>
                  </a:solidFill>
                  <a:latin typeface="Verdana"/>
                </a:rPr>
                <a:t>Improved customer experience to foster long-term loyalty and financial trust.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CE1CA3-49DB-1DB3-8711-6EE576C8CC7A}"/>
                </a:ext>
              </a:extLst>
            </p:cNvPr>
            <p:cNvSpPr/>
            <p:nvPr/>
          </p:nvSpPr>
          <p:spPr>
            <a:xfrm>
              <a:off x="731520" y="493776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4C85F5-AEAE-3ADF-39C0-F8148827CB0C}"/>
                </a:ext>
              </a:extLst>
            </p:cNvPr>
            <p:cNvSpPr/>
            <p:nvPr/>
          </p:nvSpPr>
          <p:spPr>
            <a:xfrm>
              <a:off x="731520" y="4937760"/>
              <a:ext cx="50800" cy="100584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597A9E-CF10-F0CA-179E-DAE4C2E1C6D9}"/>
                </a:ext>
              </a:extLst>
            </p:cNvPr>
            <p:cNvSpPr txBox="1"/>
            <p:nvPr/>
          </p:nvSpPr>
          <p:spPr>
            <a:xfrm>
              <a:off x="1097280" y="5120640"/>
              <a:ext cx="9997135" cy="64008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000" b="1" i="0" dirty="0">
                  <a:solidFill>
                    <a:srgbClr val="8BC34A"/>
                  </a:solidFill>
                  <a:latin typeface="Verdana"/>
                </a:rPr>
                <a:t>VISION FOR SUCCESS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 dirty="0">
                  <a:solidFill>
                    <a:srgbClr val="FFFFFF"/>
                  </a:solidFill>
                  <a:latin typeface="Verdana"/>
                </a:rPr>
                <a:t>Implementing a responsible AI-powered collections framework transforms operations from reactive debt recovery into a proactive, personalized, and scalable customer support system.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7769920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688</Words>
  <Application>Microsoft Office PowerPoint</Application>
  <PresentationFormat>On-screen Show (16:9)</PresentationFormat>
  <Paragraphs>74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Roboto</vt:lpstr>
      <vt:lpstr>Arial</vt:lpstr>
      <vt:lpstr>Verdana</vt:lpstr>
      <vt:lpstr>Roboto Slab</vt:lpstr>
      <vt:lpstr>Georgia</vt:lpstr>
      <vt:lpstr>Marina</vt:lpstr>
      <vt:lpstr>AI-Powered Collections Strategy</vt:lpstr>
      <vt:lpstr>SYSTEM WORKFLOW Data-driven risk signals trigger personalized, proactive collections interventions</vt:lpstr>
      <vt:lpstr>ADAPTIVE DECISION-MAKING A continuous closed-loop system adapts collections strategies based on behavior and outcomes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AMANATH ANAND</dc:creator>
  <cp:lastModifiedBy>Amith anand</cp:lastModifiedBy>
  <cp:revision>3</cp:revision>
  <dcterms:modified xsi:type="dcterms:W3CDTF">2026-08-24T15:16:19Z</dcterms:modified>
</cp:coreProperties>
</file>